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4" r:id="rId4"/>
    <p:sldId id="269" r:id="rId5"/>
    <p:sldId id="272" r:id="rId6"/>
    <p:sldId id="273" r:id="rId7"/>
    <p:sldId id="274" r:id="rId8"/>
    <p:sldId id="275" r:id="rId9"/>
    <p:sldId id="259" r:id="rId10"/>
    <p:sldId id="265" r:id="rId11"/>
    <p:sldId id="276" r:id="rId12"/>
    <p:sldId id="260" r:id="rId13"/>
    <p:sldId id="258" r:id="rId14"/>
    <p:sldId id="267" r:id="rId15"/>
    <p:sldId id="262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611F"/>
    <a:srgbClr val="F5E9D8"/>
    <a:srgbClr val="696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0" d="100"/>
          <a:sy n="90" d="100"/>
        </p:scale>
        <p:origin x="8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46DCB-0FF9-4959-AF8F-8312E9F1A00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18F7E-A3FE-4B6C-98D2-EB0615981C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680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18F7E-A3FE-4B6C-98D2-EB0615981CB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555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84A2-3825-18FE-B1AB-CD6C5BDA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CFE63FD-C5E9-4313-4694-78FC612AC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1F9B4F3-2B7E-F9AC-D0B7-16F15264F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0ABC69-9449-D16F-26D0-272DFE5D4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18F7E-A3FE-4B6C-98D2-EB0615981CB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98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DD8E0-42F7-17D1-4193-F6EEB4DD4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BAAD1AB-3ECB-23D8-DA22-A734E41C3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8BA22F3-D237-8592-CDBD-D9D6DD989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091379-310D-B74B-C747-7761ABBBF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18F7E-A3FE-4B6C-98D2-EB0615981CB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871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D3E49-1529-77CA-5660-03DE3368B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4FBE764-2BFC-FE27-E704-49F91D2FE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89A3A80-DB30-E4F1-A111-F5A8CFF5A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CFBA2F-DFAA-5FFE-86B8-5CD4771CF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18F7E-A3FE-4B6C-98D2-EB0615981CB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103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26968-5635-8871-5628-F10E41E6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6847B27-6054-EF1E-4D9F-1919666F7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B230B3C-9B16-F24C-D6A3-9A0B79E78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2A5901-95D7-3B8B-5342-767581F1E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18F7E-A3FE-4B6C-98D2-EB0615981CB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197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AB49A-E7A3-4895-3720-5F9BC0E7B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FD7BCC0-656E-E085-80F8-FDD283520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05779F0-AFED-6AEE-B13B-C5CF9AEB3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F3C99A-6C76-25F9-BDFC-ACFE24B37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18F7E-A3FE-4B6C-98D2-EB0615981CB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8471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3571C-13D5-1F1B-B7FB-CDF295D37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0AAFEBE-F1B3-3D85-C0A8-10D0F8710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3DEAAA7-731F-5CDF-3CA5-F11E8F790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86D625-170F-B7B8-FF6C-45738B2EF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18F7E-A3FE-4B6C-98D2-EB0615981CB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64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6C9BA-336F-9862-4C1D-9C9F9028F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D4D929A-C268-EEBE-E076-CC7D4BD0B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0818F2D-2155-3447-6B6D-ADC59DAB7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340467-483A-2DF8-D08C-2BB34FEB3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18F7E-A3FE-4B6C-98D2-EB0615981CB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732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DA45A-2537-E2CB-96C7-98F198BF4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CEA08AA-3917-AFB9-268D-6E3546E85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F4D6273-6674-A1F0-C267-E5EED1876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124571-4E7A-24A4-F8B9-0C09959C3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18F7E-A3FE-4B6C-98D2-EB0615981CB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742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BAAB-4E20-E335-79A4-763C6825D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364DFD8-6FDF-24EE-D1A6-F62A32D4F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1977EA1-977E-63B8-0295-ED29D101F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547105-37C1-A1A1-962E-826024305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18F7E-A3FE-4B6C-98D2-EB0615981CB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655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05FE2-E80A-6CE4-5CC2-282B547C9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296E9CE-3E67-B39C-A859-28D7E91A6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149CFA4-D8D2-AA78-0E20-B8B0313A9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1E43AF-54C8-FB71-DAA3-27F28291C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18F7E-A3FE-4B6C-98D2-EB0615981CB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185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C04D7-272D-9288-1919-90491B19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3542741-064A-DB11-E636-71BDFEF32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7A514EF-54D4-92B1-2EAF-4BAC73D75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04BF93-0C44-29E2-47E2-ED2743A78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18F7E-A3FE-4B6C-98D2-EB0615981CB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3939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A71B7-C2CF-1362-2514-288ED361F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7BB898-04BC-7300-E514-CFFF7C11A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D73AE11-B995-E87D-9822-087FEB3C6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85ADC0-48B4-2536-0A04-4F8699F51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18F7E-A3FE-4B6C-98D2-EB0615981CB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513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D4089-2215-D5BE-F995-9FD7DCF1A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81CF10-BAFA-3856-F6D2-219B824F6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E7D829-A8B8-93D8-8397-9A759223F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9B33-CF60-4644-B492-9EC790EEA0E2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A42FF6-AE43-EF87-DF67-9CAADE38A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7648BC-CAC1-6FC3-798F-7F527153F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B642C-87B6-491B-A5BC-7813E0DDF1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54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BC0C12-8FCD-0EFC-3CE0-2952877F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D961C4-BB66-EB5D-3553-AF00C970C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4A99B8-64EB-BC51-9EE1-A5E9F20B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9B33-CF60-4644-B492-9EC790EEA0E2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B071EB-2AAA-1644-6C8E-9B788D6D3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1D64D1-3B4B-25EC-7349-468FF1E5F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B642C-87B6-491B-A5BC-7813E0DDF1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73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B0EBB-94E4-FAF9-427C-A929BB735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2E3AD0-1CAD-9FBD-7200-9DC69C788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089791-95AA-0237-E731-A0644097F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9B33-CF60-4644-B492-9EC790EEA0E2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9685C0-604A-7B25-E116-117B421C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0A1C53-AC43-AAEC-752F-996670DA2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B642C-87B6-491B-A5BC-7813E0DDF1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5707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54283-3AF9-C15A-E669-3CDC79B3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1D206E-8D3E-1C2C-0C4A-249EEB37A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087F57-97E1-012D-FDD4-41B08ACA1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1DFFAB-768A-60AF-9CB6-5DAD358D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9B33-CF60-4644-B492-9EC790EEA0E2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210C76-BF4B-9684-53D1-C3D81E03D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FDCAE1-D3B3-D4ED-C1E6-C4EAB07E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B642C-87B6-491B-A5BC-7813E0DDF1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925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9ACC61-DE7A-858A-67A1-CD2118CE5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D6BD3C-355D-8385-386E-36086F079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2C65EF-7D22-AA8C-0E2C-32CFD57D6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243F24-068C-8359-D7D6-2388147B8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47A625-6F55-1C06-0EEA-D5DB103F7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BA38A2B-1D8B-3743-1B2F-2CEDD2ED4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9B33-CF60-4644-B492-9EC790EEA0E2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3459F28-8A31-2ADE-73C2-F5FA1A765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AEB8554-6C85-895D-F951-86E93CCA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B642C-87B6-491B-A5BC-7813E0DDF1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62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CD6FE3-BD18-BB46-1351-6BE5EF528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88FF3E6-F7D6-3D54-18AA-F29F648C7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9B33-CF60-4644-B492-9EC790EEA0E2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BF47CF-072C-9B89-5D68-FF69F225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73DD61-4D13-5BDA-53D5-FDCA69ED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B642C-87B6-491B-A5BC-7813E0DDF1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217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3BC681B-5ACD-2674-3A98-ABD32E79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9B33-CF60-4644-B492-9EC790EEA0E2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D786AA7-4B6E-B165-B040-122D0E13B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3B827E-1533-0BD2-6FCB-528EF3B8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B642C-87B6-491B-A5BC-7813E0DDF1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649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CF084-F407-3CFC-4F97-5D22C8602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E29B17-C06D-E9F6-B088-8785E5B45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99F18A-C548-2663-58FA-E3B4DAF22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CA1161-4FAC-369A-BFAA-9E3C297AA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9B33-CF60-4644-B492-9EC790EEA0E2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400F01-CDFD-C008-B92D-48457F03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65A82F-C218-C140-7222-37F90D0AA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B642C-87B6-491B-A5BC-7813E0DDF1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458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6C5357-5422-A6FA-B290-0D1C2347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53A9385-36F4-0018-9711-519178CF0E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B9A9DE-6BBB-7A3A-E7BE-1A1D437DA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763E4B-B21C-FF70-387C-1B13F79A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9B33-CF60-4644-B492-9EC790EEA0E2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4030AA-8575-8ED4-3D3C-CFCBDA76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1FEB6B-CD8F-A11D-38A8-F80D0C68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B642C-87B6-491B-A5BC-7813E0DDF1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92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96C547-F69B-644B-499F-4334BDE73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1AEC92F-9DD6-DEB9-8E90-BE5762863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95DE19-9C97-DFBD-ED2C-CE5BBC6E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9B33-CF60-4644-B492-9EC790EEA0E2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ED8BF8-3F0D-1862-5C4D-CF9D624F8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BF4579-1254-9577-A2EA-4CA4738B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B642C-87B6-491B-A5BC-7813E0DDF1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521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D546A74-C632-02FF-6ABE-23F00D100F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BC8F70-61FD-ADF5-8DEC-E39A79BD1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9652E2-089E-47E4-659F-AD6EB27A3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9B33-CF60-4644-B492-9EC790EEA0E2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6C6E1A-AC26-27F7-84F3-06B531AD5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9E56B4-4277-CC0A-1683-ACA3730CB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B642C-87B6-491B-A5BC-7813E0DDF1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72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C2519F-BB47-14C1-A137-4EEAFDE95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47E3FF-6845-CF5C-33C6-76F896399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4EABC4-C46A-934C-FD58-DE7ED3D19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19B33-CF60-4644-B492-9EC790EEA0E2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4CFE69-1310-6B9E-3E7F-1F7ED9208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C9675A-9EDE-B1C0-16E7-4E59DB734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B642C-87B6-491B-A5BC-7813E0DDF1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67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64AED7-A688-E96A-D42B-BDF174C9D4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Своя музыка для всех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71F5038-17C9-F78F-30F0-E52E9D1BA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280" y="-1125076"/>
            <a:ext cx="8859439" cy="88594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8C54904-2F84-94A6-06E0-5B189D9A785C}"/>
              </a:ext>
            </a:extLst>
          </p:cNvPr>
          <p:cNvSpPr txBox="1"/>
          <p:nvPr/>
        </p:nvSpPr>
        <p:spPr>
          <a:xfrm>
            <a:off x="3618476" y="5473861"/>
            <a:ext cx="4955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i="1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СВОЯ МУЗЫКА ДЛЯ  </a:t>
            </a:r>
            <a:r>
              <a:rPr lang="ru-RU" sz="3000" dirty="0">
                <a:solidFill>
                  <a:srgbClr val="EC611F"/>
                </a:solidFill>
                <a:latin typeface="Rhythmic RUS" pitchFamily="2" charset="0"/>
              </a:rPr>
              <a:t>ВСЕХ</a:t>
            </a:r>
          </a:p>
        </p:txBody>
      </p:sp>
    </p:spTree>
    <p:extLst>
      <p:ext uri="{BB962C8B-B14F-4D97-AF65-F5344CB8AC3E}">
        <p14:creationId xmlns:p14="http://schemas.microsoft.com/office/powerpoint/2010/main" val="1243737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7516C-D2B2-1501-1ABE-984583CBF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C3AC39-37D1-5CBC-C4BE-BD7074DC4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66" y="5843927"/>
            <a:ext cx="1148487" cy="684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3440EB-A2FE-D2E1-8C3F-F9F59CD5697E}"/>
              </a:ext>
            </a:extLst>
          </p:cNvPr>
          <p:cNvSpPr txBox="1"/>
          <p:nvPr/>
        </p:nvSpPr>
        <p:spPr>
          <a:xfrm>
            <a:off x="1177258" y="43891"/>
            <a:ext cx="98374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ТИТУЛЬНЫЙ  </a:t>
            </a:r>
            <a:r>
              <a:rPr lang="ru-RU" sz="8000" dirty="0">
                <a:solidFill>
                  <a:srgbClr val="EC611F"/>
                </a:solidFill>
                <a:latin typeface="Rhythmic RUS" pitchFamily="2" charset="0"/>
              </a:rPr>
              <a:t>ЛИСТ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31D7F81-6F61-1EF1-E21A-CEC5D4BF96BF}"/>
              </a:ext>
            </a:extLst>
          </p:cNvPr>
          <p:cNvSpPr/>
          <p:nvPr/>
        </p:nvSpPr>
        <p:spPr>
          <a:xfrm>
            <a:off x="3823890" y="1534296"/>
            <a:ext cx="7369853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7B1B0A-546B-3FB6-38DF-55515BBD20D5}"/>
              </a:ext>
            </a:extLst>
          </p:cNvPr>
          <p:cNvSpPr txBox="1"/>
          <p:nvPr/>
        </p:nvSpPr>
        <p:spPr>
          <a:xfrm>
            <a:off x="4825357" y="1668757"/>
            <a:ext cx="536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F Dewi Expanded Black" panose="00000A05000000000000" pitchFamily="2" charset="-52"/>
              </a:rPr>
              <a:t>СТАРТАП В ИНФ. ТЕХНОЛОГИЯХ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321EA3-B26C-FB9E-4DDE-393BAF152BDC}"/>
              </a:ext>
            </a:extLst>
          </p:cNvPr>
          <p:cNvSpPr txBox="1"/>
          <p:nvPr/>
        </p:nvSpPr>
        <p:spPr>
          <a:xfrm>
            <a:off x="998257" y="1461008"/>
            <a:ext cx="269496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ПРЕДМЕТ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42823C8A-01DC-DDAB-456A-5511491A7266}"/>
              </a:ext>
            </a:extLst>
          </p:cNvPr>
          <p:cNvSpPr/>
          <p:nvPr/>
        </p:nvSpPr>
        <p:spPr>
          <a:xfrm>
            <a:off x="5427675" y="3217107"/>
            <a:ext cx="5766068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2C9E9B-15D5-7A5F-13AE-2F299B658687}"/>
              </a:ext>
            </a:extLst>
          </p:cNvPr>
          <p:cNvSpPr txBox="1"/>
          <p:nvPr/>
        </p:nvSpPr>
        <p:spPr>
          <a:xfrm>
            <a:off x="998257" y="3143819"/>
            <a:ext cx="442941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ПРЕПОДАВАТЕЛЬ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D3D2EA-FAA0-7DF5-5DF4-4C4AE6E28566}"/>
              </a:ext>
            </a:extLst>
          </p:cNvPr>
          <p:cNvSpPr txBox="1"/>
          <p:nvPr/>
        </p:nvSpPr>
        <p:spPr>
          <a:xfrm>
            <a:off x="7004844" y="3338007"/>
            <a:ext cx="261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F Dewi Expanded Black" panose="00000A05000000000000" pitchFamily="2" charset="-52"/>
              </a:rPr>
              <a:t>АДЫШКИН С. С.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B9E124C-DA2E-5F16-3425-E7F8FF94D2A6}"/>
              </a:ext>
            </a:extLst>
          </p:cNvPr>
          <p:cNvSpPr/>
          <p:nvPr/>
        </p:nvSpPr>
        <p:spPr>
          <a:xfrm>
            <a:off x="3560177" y="4905051"/>
            <a:ext cx="7633566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902803-E857-D50D-FC48-8B612624EFD5}"/>
              </a:ext>
            </a:extLst>
          </p:cNvPr>
          <p:cNvSpPr txBox="1"/>
          <p:nvPr/>
        </p:nvSpPr>
        <p:spPr>
          <a:xfrm>
            <a:off x="998257" y="4831763"/>
            <a:ext cx="256192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ГРУППА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17CE6E-3546-049E-CF42-37E29B440962}"/>
              </a:ext>
            </a:extLst>
          </p:cNvPr>
          <p:cNvSpPr txBox="1"/>
          <p:nvPr/>
        </p:nvSpPr>
        <p:spPr>
          <a:xfrm>
            <a:off x="6001895" y="5039512"/>
            <a:ext cx="2270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F Dewi Expanded Black" panose="00000A05000000000000" pitchFamily="2" charset="-52"/>
              </a:rPr>
              <a:t>ЭФБО-04-23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A87842EC-BF6B-CC6B-4C0D-C0DBE9C32547}"/>
              </a:ext>
            </a:extLst>
          </p:cNvPr>
          <p:cNvSpPr/>
          <p:nvPr/>
        </p:nvSpPr>
        <p:spPr>
          <a:xfrm>
            <a:off x="2628832" y="2368735"/>
            <a:ext cx="8564911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C88F33-7B69-E035-8A07-4E22F252A1D9}"/>
              </a:ext>
            </a:extLst>
          </p:cNvPr>
          <p:cNvSpPr txBox="1"/>
          <p:nvPr/>
        </p:nvSpPr>
        <p:spPr>
          <a:xfrm>
            <a:off x="998257" y="2295447"/>
            <a:ext cx="163057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ТЕМА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74A00C-19A8-A4CD-2929-CBC96183B6C2}"/>
              </a:ext>
            </a:extLst>
          </p:cNvPr>
          <p:cNvSpPr txBox="1"/>
          <p:nvPr/>
        </p:nvSpPr>
        <p:spPr>
          <a:xfrm>
            <a:off x="3032087" y="2395474"/>
            <a:ext cx="775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ПРИЛОЖЕНИЕ ДЛЯ ПРОСЛУШИВАНИЯ МУЗЫКИ В КОМПАНИИ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21BD58BB-D7E5-E33A-E16E-D14C36DF2C3F}"/>
              </a:ext>
            </a:extLst>
          </p:cNvPr>
          <p:cNvSpPr/>
          <p:nvPr/>
        </p:nvSpPr>
        <p:spPr>
          <a:xfrm>
            <a:off x="4129242" y="4057353"/>
            <a:ext cx="7064501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178842-7F97-4878-D2E8-05EC4F6DD705}"/>
              </a:ext>
            </a:extLst>
          </p:cNvPr>
          <p:cNvSpPr txBox="1"/>
          <p:nvPr/>
        </p:nvSpPr>
        <p:spPr>
          <a:xfrm>
            <a:off x="998257" y="3984065"/>
            <a:ext cx="313098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СТУДЕНТЫ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4F9F09-745C-646D-0976-B19C0DA0AD66}"/>
              </a:ext>
            </a:extLst>
          </p:cNvPr>
          <p:cNvSpPr txBox="1"/>
          <p:nvPr/>
        </p:nvSpPr>
        <p:spPr>
          <a:xfrm>
            <a:off x="4235501" y="4085124"/>
            <a:ext cx="691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МЕДЖИДОВ З., ТОЛМАЧЁВ Г., ЦЕЙСНОВСКИЙ А., АМИНИ А.</a:t>
            </a:r>
          </a:p>
        </p:txBody>
      </p:sp>
    </p:spTree>
    <p:extLst>
      <p:ext uri="{BB962C8B-B14F-4D97-AF65-F5344CB8AC3E}">
        <p14:creationId xmlns:p14="http://schemas.microsoft.com/office/powerpoint/2010/main" val="3965131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A0E71-69EA-C43D-0B3A-7785694B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1EC8FF-C7E5-551C-D796-8662197B6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66" y="5843927"/>
            <a:ext cx="1148487" cy="684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D0A6AE-D7DC-B426-4568-061ABBBC15BB}"/>
              </a:ext>
            </a:extLst>
          </p:cNvPr>
          <p:cNvSpPr txBox="1"/>
          <p:nvPr/>
        </p:nvSpPr>
        <p:spPr>
          <a:xfrm>
            <a:off x="2549080" y="266976"/>
            <a:ext cx="75020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КАКИЕ </a:t>
            </a:r>
            <a:r>
              <a:rPr lang="ru-RU" sz="6000" dirty="0">
                <a:solidFill>
                  <a:srgbClr val="EC611F"/>
                </a:solidFill>
                <a:latin typeface="Rhythmic RUS" pitchFamily="2" charset="0"/>
              </a:rPr>
              <a:t>ПРОБЛЕМЫ?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0DC7BC97-AFED-E380-8965-46CCCCA2685F}"/>
              </a:ext>
            </a:extLst>
          </p:cNvPr>
          <p:cNvSpPr/>
          <p:nvPr/>
        </p:nvSpPr>
        <p:spPr>
          <a:xfrm>
            <a:off x="1329576" y="1817424"/>
            <a:ext cx="9532848" cy="3512819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207ADE-5F29-E310-9ECF-31AFC42495DD}"/>
              </a:ext>
            </a:extLst>
          </p:cNvPr>
          <p:cNvSpPr txBox="1"/>
          <p:nvPr/>
        </p:nvSpPr>
        <p:spPr>
          <a:xfrm>
            <a:off x="1544057" y="1993941"/>
            <a:ext cx="910388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Raleway" pitchFamily="2" charset="-52"/>
              </a:rPr>
              <a:t>Когда собирается компания друзей или коллег, чтобы послушать музыку, возникает </a:t>
            </a:r>
            <a:r>
              <a:rPr lang="ru-RU" sz="2800" b="1" dirty="0">
                <a:latin typeface="Raleway" pitchFamily="2" charset="-52"/>
              </a:rPr>
              <a:t>«диктатура плейлиста». </a:t>
            </a:r>
            <a:r>
              <a:rPr lang="ru-RU" sz="2800" dirty="0">
                <a:latin typeface="Raleway" pitchFamily="2" charset="-52"/>
              </a:rPr>
              <a:t>Тот, кто подключил колонку, единолично решает, что будут слушать все. Остальным приходится либо терпеть нелюбимую музыку, либо кричать через всю комнату, пытаясь объяснить, какой трек поставить.</a:t>
            </a:r>
          </a:p>
        </p:txBody>
      </p:sp>
    </p:spTree>
    <p:extLst>
      <p:ext uri="{BB962C8B-B14F-4D97-AF65-F5344CB8AC3E}">
        <p14:creationId xmlns:p14="http://schemas.microsoft.com/office/powerpoint/2010/main" val="1390585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CA9B7-B108-2955-396A-9044A77EA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CF94B1-FBFA-A682-3104-F778B33D08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66" y="5843927"/>
            <a:ext cx="1148487" cy="684766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5DDBEFF-2AA2-30BF-F51C-D69B47695C02}"/>
              </a:ext>
            </a:extLst>
          </p:cNvPr>
          <p:cNvSpPr/>
          <p:nvPr/>
        </p:nvSpPr>
        <p:spPr>
          <a:xfrm>
            <a:off x="2411072" y="1534296"/>
            <a:ext cx="7369853" cy="503421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74E1A-BB95-31E1-CC29-BD936A02261E}"/>
              </a:ext>
            </a:extLst>
          </p:cNvPr>
          <p:cNvSpPr txBox="1"/>
          <p:nvPr/>
        </p:nvSpPr>
        <p:spPr>
          <a:xfrm>
            <a:off x="3379556" y="1601340"/>
            <a:ext cx="5617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aleway" pitchFamily="2" charset="-52"/>
              </a:rPr>
              <a:t>Хост ставит свой плейлист, не спрашивая гостей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BE00E5-110C-9730-5C47-3C5B192767C0}"/>
              </a:ext>
            </a:extLst>
          </p:cNvPr>
          <p:cNvSpPr txBox="1"/>
          <p:nvPr/>
        </p:nvSpPr>
        <p:spPr>
          <a:xfrm>
            <a:off x="7004844" y="3338007"/>
            <a:ext cx="261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F Dewi Expanded Black" panose="00000A05000000000000" pitchFamily="2" charset="-52"/>
              </a:rPr>
              <a:t>АДЫШКИН С. С.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EFA2F8-65B5-1C16-D7D1-695F956A16D2}"/>
              </a:ext>
            </a:extLst>
          </p:cNvPr>
          <p:cNvSpPr txBox="1"/>
          <p:nvPr/>
        </p:nvSpPr>
        <p:spPr>
          <a:xfrm rot="5741921">
            <a:off x="5793665" y="2005223"/>
            <a:ext cx="6046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EC611F"/>
                </a:solidFill>
                <a:latin typeface="Rhythmic RUS" pitchFamily="2" charset="0"/>
              </a:rPr>
              <a:t>-&gt;</a:t>
            </a:r>
            <a:endParaRPr lang="ru-RU" sz="3000" dirty="0">
              <a:solidFill>
                <a:srgbClr val="EC611F"/>
              </a:solidFill>
              <a:latin typeface="Rhythmic RU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F5966F-EEFF-7222-0A07-C113CD36DF99}"/>
              </a:ext>
            </a:extLst>
          </p:cNvPr>
          <p:cNvSpPr txBox="1"/>
          <p:nvPr/>
        </p:nvSpPr>
        <p:spPr>
          <a:xfrm>
            <a:off x="1721107" y="288077"/>
            <a:ext cx="8749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КАКИЕ </a:t>
            </a:r>
            <a:r>
              <a:rPr lang="ru-RU" sz="6000" dirty="0">
                <a:solidFill>
                  <a:srgbClr val="EC611F"/>
                </a:solidFill>
                <a:latin typeface="Rhythmic RUS" pitchFamily="2" charset="0"/>
              </a:rPr>
              <a:t>последствия?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57FE2DC-AE05-43A9-9199-75A1FDFE78D8}"/>
              </a:ext>
            </a:extLst>
          </p:cNvPr>
          <p:cNvSpPr/>
          <p:nvPr/>
        </p:nvSpPr>
        <p:spPr>
          <a:xfrm>
            <a:off x="2411072" y="2440990"/>
            <a:ext cx="7369853" cy="503421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949BC3-BEE4-E503-5E8F-9C830FFE5B25}"/>
              </a:ext>
            </a:extLst>
          </p:cNvPr>
          <p:cNvSpPr txBox="1"/>
          <p:nvPr/>
        </p:nvSpPr>
        <p:spPr>
          <a:xfrm>
            <a:off x="4036026" y="2492945"/>
            <a:ext cx="4119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aleway" pitchFamily="2" charset="-52"/>
              </a:rPr>
              <a:t>Возникает </a:t>
            </a:r>
            <a:r>
              <a:rPr lang="ru-RU" b="1" dirty="0">
                <a:latin typeface="Raleway" pitchFamily="2" charset="-52"/>
              </a:rPr>
              <a:t>«диктатура плейлиста»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923F4-0FA9-B155-39A0-955315079F14}"/>
              </a:ext>
            </a:extLst>
          </p:cNvPr>
          <p:cNvSpPr txBox="1"/>
          <p:nvPr/>
        </p:nvSpPr>
        <p:spPr>
          <a:xfrm rot="5741921">
            <a:off x="5793665" y="2902240"/>
            <a:ext cx="6046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EC611F"/>
                </a:solidFill>
                <a:latin typeface="Rhythmic RUS" pitchFamily="2" charset="0"/>
              </a:rPr>
              <a:t>-&gt;</a:t>
            </a:r>
            <a:endParaRPr lang="ru-RU" sz="3000" dirty="0">
              <a:solidFill>
                <a:srgbClr val="EC611F"/>
              </a:solidFill>
              <a:latin typeface="Rhythmic RUS" pitchFamily="2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6DDD55A-C633-7B4D-5D18-A5188725334B}"/>
              </a:ext>
            </a:extLst>
          </p:cNvPr>
          <p:cNvSpPr/>
          <p:nvPr/>
        </p:nvSpPr>
        <p:spPr>
          <a:xfrm>
            <a:off x="2411072" y="3338007"/>
            <a:ext cx="7369853" cy="503421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D022EA-6E8A-56BB-1AED-ED698369C742}"/>
              </a:ext>
            </a:extLst>
          </p:cNvPr>
          <p:cNvSpPr txBox="1"/>
          <p:nvPr/>
        </p:nvSpPr>
        <p:spPr>
          <a:xfrm>
            <a:off x="3745692" y="3400213"/>
            <a:ext cx="488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aleway" pitchFamily="2" charset="-52"/>
              </a:rPr>
              <a:t>Музыка нравится только одному человеку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73808-33CC-164E-5DD9-3BB7FA3D69D6}"/>
              </a:ext>
            </a:extLst>
          </p:cNvPr>
          <p:cNvSpPr txBox="1"/>
          <p:nvPr/>
        </p:nvSpPr>
        <p:spPr>
          <a:xfrm rot="5741921">
            <a:off x="5793665" y="3799257"/>
            <a:ext cx="6046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EC611F"/>
                </a:solidFill>
                <a:latin typeface="Rhythmic RUS" pitchFamily="2" charset="0"/>
              </a:rPr>
              <a:t>-&gt;</a:t>
            </a:r>
            <a:endParaRPr lang="ru-RU" sz="3000" dirty="0">
              <a:solidFill>
                <a:srgbClr val="EC611F"/>
              </a:solidFill>
              <a:latin typeface="Rhythmic RUS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B6B7524-9FE5-035A-5CEA-DCE4B4E347E8}"/>
              </a:ext>
            </a:extLst>
          </p:cNvPr>
          <p:cNvSpPr/>
          <p:nvPr/>
        </p:nvSpPr>
        <p:spPr>
          <a:xfrm>
            <a:off x="2411072" y="4235024"/>
            <a:ext cx="7369853" cy="503421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9E4FB4-72D1-5D23-0042-4EB42706026F}"/>
              </a:ext>
            </a:extLst>
          </p:cNvPr>
          <p:cNvSpPr txBox="1"/>
          <p:nvPr/>
        </p:nvSpPr>
        <p:spPr>
          <a:xfrm>
            <a:off x="4038630" y="4302069"/>
            <a:ext cx="429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aleway" pitchFamily="2" charset="-52"/>
              </a:rPr>
              <a:t>Остальные терпят нелюбимые треки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82A8DC-ED1E-D07D-9B74-DF0194CE6CC2}"/>
              </a:ext>
            </a:extLst>
          </p:cNvPr>
          <p:cNvSpPr txBox="1"/>
          <p:nvPr/>
        </p:nvSpPr>
        <p:spPr>
          <a:xfrm rot="5741921">
            <a:off x="5793666" y="4696274"/>
            <a:ext cx="6046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EC611F"/>
                </a:solidFill>
                <a:latin typeface="Rhythmic RUS" pitchFamily="2" charset="0"/>
              </a:rPr>
              <a:t>-&gt;</a:t>
            </a:r>
            <a:endParaRPr lang="ru-RU" sz="3000" dirty="0">
              <a:solidFill>
                <a:srgbClr val="EC611F"/>
              </a:solidFill>
              <a:latin typeface="Rhythmic RUS" pitchFamily="2" charset="0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02AAC018-9628-DC06-AED2-D9729C5940A5}"/>
              </a:ext>
            </a:extLst>
          </p:cNvPr>
          <p:cNvSpPr/>
          <p:nvPr/>
        </p:nvSpPr>
        <p:spPr>
          <a:xfrm>
            <a:off x="2411073" y="5132041"/>
            <a:ext cx="7369853" cy="503421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FE32CA-F4CB-F17F-6674-CB1888A43BDF}"/>
              </a:ext>
            </a:extLst>
          </p:cNvPr>
          <p:cNvSpPr txBox="1"/>
          <p:nvPr/>
        </p:nvSpPr>
        <p:spPr>
          <a:xfrm>
            <a:off x="4248143" y="5199085"/>
            <a:ext cx="3871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aleway" pitchFamily="2" charset="-52"/>
              </a:rPr>
              <a:t>Потеря интереса к мероприятию</a:t>
            </a:r>
          </a:p>
        </p:txBody>
      </p:sp>
      <p:pic>
        <p:nvPicPr>
          <p:cNvPr id="29" name="Рисунок 28" descr="Череп со сплошной заливкой">
            <a:extLst>
              <a:ext uri="{FF2B5EF4-FFF2-40B4-BE49-F238E27FC236}">
                <a16:creationId xmlns:a16="http://schemas.microsoft.com/office/drawing/2014/main" id="{997318C8-C603-8937-8742-97212F7ACD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0074" y="4973273"/>
            <a:ext cx="783594" cy="783594"/>
          </a:xfrm>
          <a:prstGeom prst="rect">
            <a:avLst/>
          </a:prstGeom>
        </p:spPr>
      </p:pic>
      <p:pic>
        <p:nvPicPr>
          <p:cNvPr id="33" name="Рисунок 32" descr="Череп со сплошной заливкой">
            <a:extLst>
              <a:ext uri="{FF2B5EF4-FFF2-40B4-BE49-F238E27FC236}">
                <a16:creationId xmlns:a16="http://schemas.microsoft.com/office/drawing/2014/main" id="{F9643A8F-D802-7B7D-0214-04E604E259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8332" y="4991954"/>
            <a:ext cx="783594" cy="78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9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C0BA1-8913-95B8-20B5-C72EBBE6D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568C22-74E0-0249-99FD-A7A2BA0D1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66" y="5843927"/>
            <a:ext cx="1148487" cy="684766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67E9094-2977-8DBA-9BCD-D981D256B7F5}"/>
              </a:ext>
            </a:extLst>
          </p:cNvPr>
          <p:cNvSpPr/>
          <p:nvPr/>
        </p:nvSpPr>
        <p:spPr>
          <a:xfrm>
            <a:off x="1036615" y="1995869"/>
            <a:ext cx="10051711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E33D2-2C69-34E9-E84F-67037FEB5ACD}"/>
              </a:ext>
            </a:extLst>
          </p:cNvPr>
          <p:cNvSpPr txBox="1"/>
          <p:nvPr/>
        </p:nvSpPr>
        <p:spPr>
          <a:xfrm>
            <a:off x="1158071" y="1995869"/>
            <a:ext cx="9829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RF Dewi Expanded Black" panose="00000A05000000000000" pitchFamily="2" charset="-52"/>
              </a:rPr>
              <a:t>трек могут расслышать неправильно или забыть, хосту приходится отвлекаться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839651-27B7-8E06-51EC-97D0B244C135}"/>
              </a:ext>
            </a:extLst>
          </p:cNvPr>
          <p:cNvSpPr txBox="1"/>
          <p:nvPr/>
        </p:nvSpPr>
        <p:spPr>
          <a:xfrm>
            <a:off x="993516" y="1120766"/>
            <a:ext cx="160172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Крик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490D6B78-622C-AD93-135B-BF604714E163}"/>
              </a:ext>
            </a:extLst>
          </p:cNvPr>
          <p:cNvSpPr/>
          <p:nvPr/>
        </p:nvSpPr>
        <p:spPr>
          <a:xfrm>
            <a:off x="1060568" y="4865431"/>
            <a:ext cx="10027758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BC52CC-4759-10E7-056E-58F24CD15730}"/>
              </a:ext>
            </a:extLst>
          </p:cNvPr>
          <p:cNvSpPr txBox="1"/>
          <p:nvPr/>
        </p:nvSpPr>
        <p:spPr>
          <a:xfrm>
            <a:off x="1036615" y="4102842"/>
            <a:ext cx="543289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Плейлист диджея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5F8971-789E-C7BC-5572-DEB04E13550A}"/>
              </a:ext>
            </a:extLst>
          </p:cNvPr>
          <p:cNvSpPr txBox="1"/>
          <p:nvPr/>
        </p:nvSpPr>
        <p:spPr>
          <a:xfrm>
            <a:off x="1699503" y="4847507"/>
            <a:ext cx="8792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RF Dewi Expanded Black" panose="00000A05000000000000" pitchFamily="2" charset="-52"/>
              </a:rPr>
              <a:t>Игнорирует предпочтения всех остальных, создает диктатуру одного человека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D76763E-FCA5-20D9-1080-FDBE4E62E33C}"/>
              </a:ext>
            </a:extLst>
          </p:cNvPr>
          <p:cNvSpPr/>
          <p:nvPr/>
        </p:nvSpPr>
        <p:spPr>
          <a:xfrm>
            <a:off x="1036615" y="3450945"/>
            <a:ext cx="10051711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F0AF8D-C062-9599-2DDB-CD9A8FC14A0B}"/>
              </a:ext>
            </a:extLst>
          </p:cNvPr>
          <p:cNvSpPr txBox="1"/>
          <p:nvPr/>
        </p:nvSpPr>
        <p:spPr>
          <a:xfrm>
            <a:off x="993516" y="2607392"/>
            <a:ext cx="574869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>
                <a:solidFill>
                  <a:srgbClr val="EC611F"/>
                </a:solidFill>
                <a:latin typeface="Rhythmic RUS" pitchFamily="2" charset="0"/>
              </a:rPr>
              <a:t>Spotify</a:t>
            </a:r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 </a:t>
            </a:r>
            <a:r>
              <a:rPr lang="en-US" sz="4500" dirty="0">
                <a:solidFill>
                  <a:srgbClr val="EC611F"/>
                </a:solidFill>
                <a:latin typeface="Rhythmic RUS" pitchFamily="2" charset="0"/>
              </a:rPr>
              <a:t>/</a:t>
            </a:r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 </a:t>
            </a:r>
            <a:r>
              <a:rPr lang="en-US" sz="4500" dirty="0">
                <a:solidFill>
                  <a:srgbClr val="EC611F"/>
                </a:solidFill>
                <a:latin typeface="Rhythmic RUS" pitchFamily="2" charset="0"/>
              </a:rPr>
              <a:t>Apple music</a:t>
            </a:r>
            <a:endParaRPr lang="ru-RU" sz="4500" dirty="0">
              <a:solidFill>
                <a:srgbClr val="EC611F"/>
              </a:solidFill>
              <a:latin typeface="Rhythmic RUS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1C5258-02CF-A967-5253-221B687FCED0}"/>
              </a:ext>
            </a:extLst>
          </p:cNvPr>
          <p:cNvSpPr txBox="1"/>
          <p:nvPr/>
        </p:nvSpPr>
        <p:spPr>
          <a:xfrm>
            <a:off x="1171695" y="3518067"/>
            <a:ext cx="96953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Требуют платных подписок у всех участников и установки приложений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A9C19E-6565-F012-5632-7BB74B88EADB}"/>
              </a:ext>
            </a:extLst>
          </p:cNvPr>
          <p:cNvSpPr txBox="1"/>
          <p:nvPr/>
        </p:nvSpPr>
        <p:spPr>
          <a:xfrm>
            <a:off x="1103667" y="288077"/>
            <a:ext cx="998465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ПОЧЕМУ ЭТО РЕШЕНИЕ  </a:t>
            </a:r>
            <a:r>
              <a:rPr lang="ru-RU" sz="3500" dirty="0">
                <a:solidFill>
                  <a:srgbClr val="EC611F"/>
                </a:solidFill>
                <a:latin typeface="Rhythmic RUS" pitchFamily="2" charset="0"/>
              </a:rPr>
              <a:t>НЕ ЗАКРЫВАЮТ?</a:t>
            </a:r>
          </a:p>
        </p:txBody>
      </p:sp>
    </p:spTree>
    <p:extLst>
      <p:ext uri="{BB962C8B-B14F-4D97-AF65-F5344CB8AC3E}">
        <p14:creationId xmlns:p14="http://schemas.microsoft.com/office/powerpoint/2010/main" val="96231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5152D-FBF8-E416-E97C-5575901CB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A0CD16-EB41-D129-3EC3-07B911BF6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66" y="5843927"/>
            <a:ext cx="1148487" cy="684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3194B5-39BD-D636-FECC-6F530F8F26A1}"/>
              </a:ext>
            </a:extLst>
          </p:cNvPr>
          <p:cNvSpPr txBox="1"/>
          <p:nvPr/>
        </p:nvSpPr>
        <p:spPr>
          <a:xfrm>
            <a:off x="2344998" y="288077"/>
            <a:ext cx="75020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КТО </a:t>
            </a:r>
            <a:r>
              <a:rPr lang="ru-RU" sz="6000" dirty="0">
                <a:solidFill>
                  <a:srgbClr val="EC611F"/>
                </a:solidFill>
                <a:latin typeface="Rhythmic RUS" pitchFamily="2" charset="0"/>
              </a:rPr>
              <a:t>ПОЛЬЗОВАТЕЛЬ?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F32234C6-B3E5-9251-039D-E977175108AC}"/>
              </a:ext>
            </a:extLst>
          </p:cNvPr>
          <p:cNvSpPr/>
          <p:nvPr/>
        </p:nvSpPr>
        <p:spPr>
          <a:xfrm>
            <a:off x="1329575" y="1560971"/>
            <a:ext cx="9532848" cy="1444521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AB60A7-6F51-4CE3-1E72-A44AB48A3D2C}"/>
              </a:ext>
            </a:extLst>
          </p:cNvPr>
          <p:cNvSpPr txBox="1"/>
          <p:nvPr/>
        </p:nvSpPr>
        <p:spPr>
          <a:xfrm>
            <a:off x="1544056" y="1621511"/>
            <a:ext cx="91038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aleway" pitchFamily="2" charset="-52"/>
              </a:rPr>
              <a:t>Екатерина — девушка, живет в городе, активно общается с друзьями и регулярно ходит на вечеринки, домашние посиделки и мероприятия в барах. Она любит музыку и слушает разные жанры, в курсе новых треков и трендов . Екатерина — желанный гость в любой компании, но ее главная боль — невозможность повлиять на музыку, когда она не у себя дома. Она устала кричать названия треков через стол или терпеть чужой плейлист.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D0E11FA-94FE-9D54-DF30-DFA7A3944F4F}"/>
              </a:ext>
            </a:extLst>
          </p:cNvPr>
          <p:cNvSpPr/>
          <p:nvPr/>
        </p:nvSpPr>
        <p:spPr>
          <a:xfrm>
            <a:off x="1329576" y="3130249"/>
            <a:ext cx="9532848" cy="684766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51A967-7A00-153A-07FA-32BB79C92565}"/>
              </a:ext>
            </a:extLst>
          </p:cNvPr>
          <p:cNvSpPr txBox="1"/>
          <p:nvPr/>
        </p:nvSpPr>
        <p:spPr>
          <a:xfrm>
            <a:off x="1544056" y="3180244"/>
            <a:ext cx="9103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>
                <a:latin typeface="Raleway" pitchFamily="2" charset="-52"/>
              </a:rPr>
              <a:t>В перспективе B2B - этозаведений, заинтересованных в интерактивной музыке (бары, антикафе, лаунж-зоны)</a:t>
            </a:r>
            <a:endParaRPr lang="ru-RU" sz="1600" dirty="0">
              <a:latin typeface="Raleway" pitchFamily="2" charset="-52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C40590E-434A-08D6-7740-A76C6FD5DD28}"/>
              </a:ext>
            </a:extLst>
          </p:cNvPr>
          <p:cNvSpPr/>
          <p:nvPr/>
        </p:nvSpPr>
        <p:spPr>
          <a:xfrm>
            <a:off x="1329576" y="3939772"/>
            <a:ext cx="9532848" cy="1444521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A612C3-40E7-5E32-FDDC-5273AF7F39B4}"/>
              </a:ext>
            </a:extLst>
          </p:cNvPr>
          <p:cNvSpPr txBox="1"/>
          <p:nvPr/>
        </p:nvSpPr>
        <p:spPr>
          <a:xfrm>
            <a:off x="1544057" y="4000312"/>
            <a:ext cx="91038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aleway" pitchFamily="2" charset="-52"/>
              </a:rPr>
              <a:t>Сценарий : Для компании друзей в ситуации домашней вечеринки или встречи, где нужно включить музыку для всех, наш продукт обеспечивает возможность каждому гостю влиять на общий плейлист без споров и неловкости, снижая конфликтность и нагрузку на организатора, а так же даря чувство причастности к происходящему, по сравнению с традиционно передачей телефона по кругу или постоянными просьбами в адрес диджея</a:t>
            </a:r>
          </a:p>
        </p:txBody>
      </p:sp>
    </p:spTree>
    <p:extLst>
      <p:ext uri="{BB962C8B-B14F-4D97-AF65-F5344CB8AC3E}">
        <p14:creationId xmlns:p14="http://schemas.microsoft.com/office/powerpoint/2010/main" val="3433158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7C342-38B1-75FC-1E66-9A6E52F03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E574CA-4E80-8EF7-8FD9-100CABE0A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66" y="5843927"/>
            <a:ext cx="1148487" cy="684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B8AB85-C0D9-133D-4A09-8AFC0FC16772}"/>
              </a:ext>
            </a:extLst>
          </p:cNvPr>
          <p:cNvSpPr txBox="1"/>
          <p:nvPr/>
        </p:nvSpPr>
        <p:spPr>
          <a:xfrm>
            <a:off x="1177258" y="43891"/>
            <a:ext cx="106248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КРИТЕРИИ  </a:t>
            </a:r>
            <a:r>
              <a:rPr lang="ru-RU" sz="8000" dirty="0">
                <a:solidFill>
                  <a:srgbClr val="EC611F"/>
                </a:solidFill>
                <a:latin typeface="Rhythmic RUS" pitchFamily="2" charset="0"/>
              </a:rPr>
              <a:t>ВЫБОРА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4BD76EB-4C8A-4DE5-D009-690C6A9AA2AE}"/>
              </a:ext>
            </a:extLst>
          </p:cNvPr>
          <p:cNvSpPr/>
          <p:nvPr/>
        </p:nvSpPr>
        <p:spPr>
          <a:xfrm>
            <a:off x="4060314" y="1534296"/>
            <a:ext cx="7133429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852BF0-FECE-E8E2-A492-8F4EC2F6256E}"/>
              </a:ext>
            </a:extLst>
          </p:cNvPr>
          <p:cNvSpPr txBox="1"/>
          <p:nvPr/>
        </p:nvSpPr>
        <p:spPr>
          <a:xfrm>
            <a:off x="4632191" y="1558469"/>
            <a:ext cx="5989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Добавить трек должно занимать </a:t>
            </a:r>
          </a:p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не более 10–15 секунд.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50705D-FC3E-061B-48A1-422FF9C8C3C2}"/>
              </a:ext>
            </a:extLst>
          </p:cNvPr>
          <p:cNvSpPr txBox="1"/>
          <p:nvPr/>
        </p:nvSpPr>
        <p:spPr>
          <a:xfrm>
            <a:off x="998257" y="1461008"/>
            <a:ext cx="306205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Быстрота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F3A3B93F-C91F-42B9-9E03-55C04FE2D20A}"/>
              </a:ext>
            </a:extLst>
          </p:cNvPr>
          <p:cNvSpPr/>
          <p:nvPr/>
        </p:nvSpPr>
        <p:spPr>
          <a:xfrm>
            <a:off x="4825357" y="3217107"/>
            <a:ext cx="6368386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63A230-BA12-DD31-8ADA-EBB8411A7853}"/>
              </a:ext>
            </a:extLst>
          </p:cNvPr>
          <p:cNvSpPr txBox="1"/>
          <p:nvPr/>
        </p:nvSpPr>
        <p:spPr>
          <a:xfrm>
            <a:off x="998257" y="3143819"/>
            <a:ext cx="386355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Доступность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9B884B-2391-3722-EDAD-E6AD245D2E3F}"/>
              </a:ext>
            </a:extLst>
          </p:cNvPr>
          <p:cNvSpPr txBox="1"/>
          <p:nvPr/>
        </p:nvSpPr>
        <p:spPr>
          <a:xfrm>
            <a:off x="4825356" y="3239783"/>
            <a:ext cx="6330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Возможность искать треки в привычных сервисах (</a:t>
            </a:r>
            <a:r>
              <a:rPr lang="ru-RU" sz="1600" dirty="0" err="1">
                <a:latin typeface="RF Dewi Expanded Black" panose="00000A05000000000000" pitchFamily="2" charset="-52"/>
              </a:rPr>
              <a:t>Яндекс.Музыка</a:t>
            </a:r>
            <a:r>
              <a:rPr lang="ru-RU" sz="1600" dirty="0">
                <a:latin typeface="RF Dewi Expanded Black" panose="00000A05000000000000" pitchFamily="2" charset="-52"/>
              </a:rPr>
              <a:t>, VK Музыка).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F365820B-347F-FFAB-4F5D-B78DC3D334F3}"/>
              </a:ext>
            </a:extLst>
          </p:cNvPr>
          <p:cNvSpPr/>
          <p:nvPr/>
        </p:nvSpPr>
        <p:spPr>
          <a:xfrm>
            <a:off x="5129515" y="4905051"/>
            <a:ext cx="6064228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310696-6ABD-5DCB-0C28-EB1004E4FBC5}"/>
              </a:ext>
            </a:extLst>
          </p:cNvPr>
          <p:cNvSpPr txBox="1"/>
          <p:nvPr/>
        </p:nvSpPr>
        <p:spPr>
          <a:xfrm>
            <a:off x="988638" y="4831763"/>
            <a:ext cx="414087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Бесплатность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058F77-D220-7B5C-558D-4046ADF6E2AF}"/>
              </a:ext>
            </a:extLst>
          </p:cNvPr>
          <p:cNvSpPr txBox="1"/>
          <p:nvPr/>
        </p:nvSpPr>
        <p:spPr>
          <a:xfrm>
            <a:off x="5159703" y="4931790"/>
            <a:ext cx="6003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Она не готова платить за подписку, чтобы добавить пару треков за вечер.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0D16321B-AE63-8FD7-3D9A-8937BBC2A6DD}"/>
              </a:ext>
            </a:extLst>
          </p:cNvPr>
          <p:cNvSpPr/>
          <p:nvPr/>
        </p:nvSpPr>
        <p:spPr>
          <a:xfrm>
            <a:off x="3850506" y="2368735"/>
            <a:ext cx="7343238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BB6B92-57AA-E4B8-5D92-C47DAD67EE72}"/>
              </a:ext>
            </a:extLst>
          </p:cNvPr>
          <p:cNvSpPr txBox="1"/>
          <p:nvPr/>
        </p:nvSpPr>
        <p:spPr>
          <a:xfrm>
            <a:off x="998256" y="2295447"/>
            <a:ext cx="285224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Простота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2C8B9A-2355-F19D-AA17-4F7D3F51DFD5}"/>
              </a:ext>
            </a:extLst>
          </p:cNvPr>
          <p:cNvSpPr txBox="1"/>
          <p:nvPr/>
        </p:nvSpPr>
        <p:spPr>
          <a:xfrm>
            <a:off x="4302641" y="2395474"/>
            <a:ext cx="648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Никаких регистраций и установок, только сканирование QR-кода.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09BBE855-287E-1CC0-2A44-0F5544A6909F}"/>
              </a:ext>
            </a:extLst>
          </p:cNvPr>
          <p:cNvSpPr/>
          <p:nvPr/>
        </p:nvSpPr>
        <p:spPr>
          <a:xfrm>
            <a:off x="5129516" y="4057353"/>
            <a:ext cx="6064227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86AD5F-983F-62A1-7F74-46CB41EB1152}"/>
              </a:ext>
            </a:extLst>
          </p:cNvPr>
          <p:cNvSpPr txBox="1"/>
          <p:nvPr/>
        </p:nvSpPr>
        <p:spPr>
          <a:xfrm>
            <a:off x="998257" y="3984065"/>
            <a:ext cx="413125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Прозрачность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BAE71C-EF57-866A-9D54-0AE989D8D814}"/>
              </a:ext>
            </a:extLst>
          </p:cNvPr>
          <p:cNvSpPr txBox="1"/>
          <p:nvPr/>
        </p:nvSpPr>
        <p:spPr>
          <a:xfrm>
            <a:off x="5129515" y="4085124"/>
            <a:ext cx="60258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Видеть, что ее голос влияет на очередь и трек поднимается выше</a:t>
            </a:r>
          </a:p>
        </p:txBody>
      </p:sp>
    </p:spTree>
    <p:extLst>
      <p:ext uri="{BB962C8B-B14F-4D97-AF65-F5344CB8AC3E}">
        <p14:creationId xmlns:p14="http://schemas.microsoft.com/office/powerpoint/2010/main" val="333519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CC61F-0EDE-2FF6-AFD6-A480DDA96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89B2FD-D4D4-595D-E6DB-908324A41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66" y="5843927"/>
            <a:ext cx="1148487" cy="684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09D39D-53BE-368C-4B1D-60FB7276B172}"/>
              </a:ext>
            </a:extLst>
          </p:cNvPr>
          <p:cNvSpPr txBox="1"/>
          <p:nvPr/>
        </p:nvSpPr>
        <p:spPr>
          <a:xfrm>
            <a:off x="1544057" y="288077"/>
            <a:ext cx="91038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КАКИЕ  </a:t>
            </a:r>
            <a:r>
              <a:rPr lang="ru-RU" sz="6000" dirty="0">
                <a:solidFill>
                  <a:srgbClr val="EC611F"/>
                </a:solidFill>
                <a:latin typeface="Rhythmic RUS" pitchFamily="2" charset="0"/>
              </a:rPr>
              <a:t>ОГРАНИЧЕНИЯ?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87413F3-F1A2-F410-1A5B-280661A63362}"/>
              </a:ext>
            </a:extLst>
          </p:cNvPr>
          <p:cNvSpPr/>
          <p:nvPr/>
        </p:nvSpPr>
        <p:spPr>
          <a:xfrm>
            <a:off x="1329576" y="1672591"/>
            <a:ext cx="9532848" cy="1120228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C3CC0E-A77E-BDF0-BFF9-B9F2D21EC7AC}"/>
              </a:ext>
            </a:extLst>
          </p:cNvPr>
          <p:cNvSpPr txBox="1"/>
          <p:nvPr/>
        </p:nvSpPr>
        <p:spPr>
          <a:xfrm>
            <a:off x="1544057" y="1731671"/>
            <a:ext cx="91038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Raleway" pitchFamily="2" charset="-52"/>
              </a:rPr>
              <a:t>Не желание устанавливать приложение и регистрироваться ради одной вечеринки.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736F2271-5B2B-1EB8-56B5-8CBCA35BD2FE}"/>
              </a:ext>
            </a:extLst>
          </p:cNvPr>
          <p:cNvSpPr/>
          <p:nvPr/>
        </p:nvSpPr>
        <p:spPr>
          <a:xfrm>
            <a:off x="1335456" y="3842519"/>
            <a:ext cx="9532848" cy="1894367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57390-6AE3-55C4-4A69-1E190D1A1D9F}"/>
              </a:ext>
            </a:extLst>
          </p:cNvPr>
          <p:cNvSpPr txBox="1"/>
          <p:nvPr/>
        </p:nvSpPr>
        <p:spPr>
          <a:xfrm>
            <a:off x="1544057" y="3908688"/>
            <a:ext cx="91038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Raleway" pitchFamily="2" charset="-52"/>
              </a:rPr>
              <a:t>Когда я нахожусь на вечеринке или дружеской встрече и слышу музыку, которая мне не нравится или хочется поделиться своим любимым треком, я хочу быстро добавить свой трек в общую очередь, чтобы услышать его в компании и улучшить своё настроение, несмотря на то, что у меня нет доступа к устройству хоста, я не хочу никого отвлекать и не готова устанавливать приложения и регистрироваться ради одной вечеринки.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72064-0683-5D04-7118-BDD06FF933EB}"/>
              </a:ext>
            </a:extLst>
          </p:cNvPr>
          <p:cNvSpPr txBox="1"/>
          <p:nvPr/>
        </p:nvSpPr>
        <p:spPr>
          <a:xfrm>
            <a:off x="1544057" y="2973042"/>
            <a:ext cx="26168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rgbClr val="EC611F"/>
                </a:solidFill>
                <a:latin typeface="Rhythmic RUS" pitchFamily="2" charset="0"/>
              </a:rPr>
              <a:t>J T BD</a:t>
            </a:r>
            <a:endParaRPr lang="ru-RU" sz="5000" dirty="0">
              <a:solidFill>
                <a:srgbClr val="EC611F"/>
              </a:solidFill>
              <a:latin typeface="Rhythmic RU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870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AE1B0-DE50-D963-16A8-5DAFAFB4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4046BA-228E-1103-4EEF-E4663368B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66" y="5843927"/>
            <a:ext cx="1148487" cy="684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AC0C4A-A1A8-5CA5-3D70-C47CB9846028}"/>
              </a:ext>
            </a:extLst>
          </p:cNvPr>
          <p:cNvSpPr txBox="1"/>
          <p:nvPr/>
        </p:nvSpPr>
        <p:spPr>
          <a:xfrm>
            <a:off x="1189197" y="250980"/>
            <a:ext cx="98136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КТО НАША  </a:t>
            </a:r>
            <a:r>
              <a:rPr lang="ru-RU" sz="6000" dirty="0">
                <a:solidFill>
                  <a:srgbClr val="EC611F"/>
                </a:solidFill>
                <a:latin typeface="Rhythmic RUS" pitchFamily="2" charset="0"/>
              </a:rPr>
              <a:t>аудитория?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5E463F51-A016-40EC-9354-3C0BA63566EC}"/>
              </a:ext>
            </a:extLst>
          </p:cNvPr>
          <p:cNvSpPr/>
          <p:nvPr/>
        </p:nvSpPr>
        <p:spPr>
          <a:xfrm>
            <a:off x="1392256" y="2246107"/>
            <a:ext cx="4412737" cy="3576870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064876-4C20-8A8B-68A7-9A1DEC2C4FAC}"/>
              </a:ext>
            </a:extLst>
          </p:cNvPr>
          <p:cNvSpPr txBox="1"/>
          <p:nvPr/>
        </p:nvSpPr>
        <p:spPr>
          <a:xfrm>
            <a:off x="1895272" y="1461277"/>
            <a:ext cx="340670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Аудитория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F15DF8-C75D-59BF-458A-049A2DC01BB0}"/>
              </a:ext>
            </a:extLst>
          </p:cNvPr>
          <p:cNvSpPr txBox="1"/>
          <p:nvPr/>
        </p:nvSpPr>
        <p:spPr>
          <a:xfrm>
            <a:off x="1510573" y="2870529"/>
            <a:ext cx="4176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Raleway" pitchFamily="2" charset="-52"/>
              </a:rPr>
              <a:t>146 119 928 - столько людей живут в России по данным с Википедии на 2025 год</a:t>
            </a:r>
          </a:p>
          <a:p>
            <a:pPr algn="ctr"/>
            <a:endParaRPr lang="ru-RU" dirty="0">
              <a:latin typeface="Raleway" pitchFamily="2" charset="-52"/>
            </a:endParaRPr>
          </a:p>
          <a:p>
            <a:pPr algn="ctr"/>
            <a:endParaRPr lang="ru-RU" dirty="0">
              <a:latin typeface="Raleway" pitchFamily="2" charset="-52"/>
            </a:endParaRPr>
          </a:p>
          <a:p>
            <a:pPr algn="ctr"/>
            <a:r>
              <a:rPr lang="ru-RU" dirty="0">
                <a:latin typeface="Raleway" pitchFamily="2" charset="-52"/>
              </a:rPr>
              <a:t>TAM - 105 миллионов человек</a:t>
            </a:r>
          </a:p>
          <a:p>
            <a:pPr algn="ctr"/>
            <a:r>
              <a:rPr lang="ru-RU" dirty="0">
                <a:latin typeface="Raleway" pitchFamily="2" charset="-52"/>
              </a:rPr>
              <a:t>SAM - 59 миллионов человек</a:t>
            </a:r>
          </a:p>
          <a:p>
            <a:pPr algn="ctr"/>
            <a:r>
              <a:rPr lang="ru-RU" dirty="0">
                <a:latin typeface="Raleway" pitchFamily="2" charset="-52"/>
              </a:rPr>
              <a:t>SOM – 25 миллионов человек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5B9900-FECA-0760-A10A-1DAA9A954799}"/>
              </a:ext>
            </a:extLst>
          </p:cNvPr>
          <p:cNvSpPr txBox="1"/>
          <p:nvPr/>
        </p:nvSpPr>
        <p:spPr>
          <a:xfrm>
            <a:off x="6841936" y="1461277"/>
            <a:ext cx="345479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диаграмма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03B37A1-46DE-487F-B6F7-8BD28488C3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135" y="2440741"/>
            <a:ext cx="3326393" cy="332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98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CC68D-77BA-C45F-D013-CD0FB78F3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834D2D-0822-7213-8174-3BCE95585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66" y="5843927"/>
            <a:ext cx="1148487" cy="684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CCE34E-2A4E-EE79-2D29-30D6FDFE3A41}"/>
              </a:ext>
            </a:extLst>
          </p:cNvPr>
          <p:cNvSpPr txBox="1"/>
          <p:nvPr/>
        </p:nvSpPr>
        <p:spPr>
          <a:xfrm>
            <a:off x="1189197" y="250980"/>
            <a:ext cx="98136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СЕГМЕНТАЦИЯ  </a:t>
            </a:r>
            <a:r>
              <a:rPr lang="ru-RU" sz="6000" dirty="0">
                <a:solidFill>
                  <a:srgbClr val="EC611F"/>
                </a:solidFill>
                <a:latin typeface="Rhythmic RUS" pitchFamily="2" charset="0"/>
              </a:rPr>
              <a:t>РЫНКА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E2DCB7E6-EBD2-164E-80E7-6436049A8CAC}"/>
              </a:ext>
            </a:extLst>
          </p:cNvPr>
          <p:cNvSpPr/>
          <p:nvPr/>
        </p:nvSpPr>
        <p:spPr>
          <a:xfrm>
            <a:off x="1359393" y="4964994"/>
            <a:ext cx="8150367" cy="1211083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F82BB4-4234-11C1-E1B1-4383A0B4E92D}"/>
              </a:ext>
            </a:extLst>
          </p:cNvPr>
          <p:cNvSpPr txBox="1"/>
          <p:nvPr/>
        </p:nvSpPr>
        <p:spPr>
          <a:xfrm>
            <a:off x="1580082" y="5031926"/>
            <a:ext cx="78711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Raleway" pitchFamily="2" charset="-52"/>
              </a:rPr>
              <a:t>Компании друзей. Несмотря на низкую прямую монетизацию , это самый массовый сегмент. Он будет легко распространяться благодаря QR-коду и социальному распространению. Это создаст пользовательскую базу, затем приложение можно предлагать владельцам заведений.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6529D48-A38C-4299-F4DC-575B0101D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392" y="1578952"/>
            <a:ext cx="9473215" cy="286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91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B689F7-2B12-C45B-423D-33CB6AAD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14F7CE-1E45-37DE-2742-80BF1C131C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66" y="5843927"/>
            <a:ext cx="1148487" cy="684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46E42D-3F52-08D7-5B13-DF8993B30429}"/>
              </a:ext>
            </a:extLst>
          </p:cNvPr>
          <p:cNvSpPr txBox="1"/>
          <p:nvPr/>
        </p:nvSpPr>
        <p:spPr>
          <a:xfrm>
            <a:off x="1524294" y="52762"/>
            <a:ext cx="9143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ПОЧЕМУ  </a:t>
            </a:r>
            <a:r>
              <a:rPr lang="ru-RU" sz="8000" dirty="0">
                <a:solidFill>
                  <a:srgbClr val="EC611F"/>
                </a:solidFill>
                <a:latin typeface="Rhythmic RUS" pitchFamily="2" charset="0"/>
              </a:rPr>
              <a:t>СЕЙЧАС?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06C8566-CDC0-3270-14FB-4EDC4E398388}"/>
              </a:ext>
            </a:extLst>
          </p:cNvPr>
          <p:cNvSpPr/>
          <p:nvPr/>
        </p:nvSpPr>
        <p:spPr>
          <a:xfrm>
            <a:off x="4060314" y="1534296"/>
            <a:ext cx="7133429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92A675-2689-E090-389B-0DAF76D8375E}"/>
              </a:ext>
            </a:extLst>
          </p:cNvPr>
          <p:cNvSpPr txBox="1"/>
          <p:nvPr/>
        </p:nvSpPr>
        <p:spPr>
          <a:xfrm>
            <a:off x="4632191" y="1678577"/>
            <a:ext cx="5989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Рост рынка музыкальных стримингов.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AE7F82-F1C7-AE51-E9B0-5DC3ED1B5742}"/>
              </a:ext>
            </a:extLst>
          </p:cNvPr>
          <p:cNvSpPr txBox="1"/>
          <p:nvPr/>
        </p:nvSpPr>
        <p:spPr>
          <a:xfrm>
            <a:off x="998257" y="1461008"/>
            <a:ext cx="298350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ДРАЙВЕР 1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379776B-679B-9B42-B884-5E5D9096592E}"/>
              </a:ext>
            </a:extLst>
          </p:cNvPr>
          <p:cNvSpPr/>
          <p:nvPr/>
        </p:nvSpPr>
        <p:spPr>
          <a:xfrm>
            <a:off x="4072676" y="3050149"/>
            <a:ext cx="7133430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30624-97C3-C7AB-AEC2-E9DDD456C7E6}"/>
              </a:ext>
            </a:extLst>
          </p:cNvPr>
          <p:cNvSpPr txBox="1"/>
          <p:nvPr/>
        </p:nvSpPr>
        <p:spPr>
          <a:xfrm>
            <a:off x="4755400" y="3076888"/>
            <a:ext cx="6115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Запрос на аутентичность и человеческое участие.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12C2B580-6826-6B5B-C8B1-F49739BDB564}"/>
              </a:ext>
            </a:extLst>
          </p:cNvPr>
          <p:cNvSpPr/>
          <p:nvPr/>
        </p:nvSpPr>
        <p:spPr>
          <a:xfrm>
            <a:off x="4078308" y="4604352"/>
            <a:ext cx="7127798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9D66DA-7391-27CC-B198-E4DCDFDEC743}"/>
              </a:ext>
            </a:extLst>
          </p:cNvPr>
          <p:cNvSpPr txBox="1"/>
          <p:nvPr/>
        </p:nvSpPr>
        <p:spPr>
          <a:xfrm>
            <a:off x="4815480" y="4630937"/>
            <a:ext cx="5662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 ИИ-технологии как база для </a:t>
            </a:r>
            <a:r>
              <a:rPr lang="ru-RU" sz="1600" dirty="0" err="1">
                <a:latin typeface="RF Dewi Expanded Black" panose="00000A05000000000000" pitchFamily="2" charset="-52"/>
              </a:rPr>
              <a:t>персонализаци</a:t>
            </a:r>
            <a:endParaRPr lang="ru-RU" sz="1600" dirty="0">
              <a:latin typeface="RF Dewi Expanded Black" panose="00000A05000000000000" pitchFamily="2" charset="-52"/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6763E4FE-D29C-EEB9-977E-A625C90EF161}"/>
              </a:ext>
            </a:extLst>
          </p:cNvPr>
          <p:cNvSpPr/>
          <p:nvPr/>
        </p:nvSpPr>
        <p:spPr>
          <a:xfrm>
            <a:off x="4061789" y="2279898"/>
            <a:ext cx="7144653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5C00F3-9A4C-066F-16FA-FB3C7F257CE9}"/>
              </a:ext>
            </a:extLst>
          </p:cNvPr>
          <p:cNvSpPr txBox="1"/>
          <p:nvPr/>
        </p:nvSpPr>
        <p:spPr>
          <a:xfrm>
            <a:off x="4383105" y="2386104"/>
            <a:ext cx="6487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Тренд на социальное прослушивание.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7EF9AE2E-D00B-EE63-9777-381A1F9DA248}"/>
              </a:ext>
            </a:extLst>
          </p:cNvPr>
          <p:cNvSpPr/>
          <p:nvPr/>
        </p:nvSpPr>
        <p:spPr>
          <a:xfrm>
            <a:off x="4074489" y="3821333"/>
            <a:ext cx="7127798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067BAB-7896-4798-F949-ADFC3F57C682}"/>
              </a:ext>
            </a:extLst>
          </p:cNvPr>
          <p:cNvSpPr txBox="1"/>
          <p:nvPr/>
        </p:nvSpPr>
        <p:spPr>
          <a:xfrm>
            <a:off x="4963659" y="3848072"/>
            <a:ext cx="5357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Появление успешных примеров в нише.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CA4578-43DE-F232-D237-AD2673597110}"/>
              </a:ext>
            </a:extLst>
          </p:cNvPr>
          <p:cNvSpPr txBox="1"/>
          <p:nvPr/>
        </p:nvSpPr>
        <p:spPr>
          <a:xfrm>
            <a:off x="969668" y="2236242"/>
            <a:ext cx="306205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ДРАЙВЕР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A22884-64A7-56C5-62A9-9FC4910DAA45}"/>
              </a:ext>
            </a:extLst>
          </p:cNvPr>
          <p:cNvSpPr txBox="1"/>
          <p:nvPr/>
        </p:nvSpPr>
        <p:spPr>
          <a:xfrm>
            <a:off x="964593" y="3014111"/>
            <a:ext cx="305083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ДРАЙВЕР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6B591F-7450-B4EC-69D9-8CE29673B782}"/>
              </a:ext>
            </a:extLst>
          </p:cNvPr>
          <p:cNvSpPr txBox="1"/>
          <p:nvPr/>
        </p:nvSpPr>
        <p:spPr>
          <a:xfrm>
            <a:off x="919708" y="3813117"/>
            <a:ext cx="30251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ДРАЙВЕР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4CFD51-9646-508E-3133-7FEF81AFA40A}"/>
              </a:ext>
            </a:extLst>
          </p:cNvPr>
          <p:cNvSpPr txBox="1"/>
          <p:nvPr/>
        </p:nvSpPr>
        <p:spPr>
          <a:xfrm>
            <a:off x="968066" y="4530910"/>
            <a:ext cx="311976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ДРАЙВЕР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880F87-522A-B490-2CBB-A8C3679DB95D}"/>
              </a:ext>
            </a:extLst>
          </p:cNvPr>
          <p:cNvSpPr txBox="1"/>
          <p:nvPr/>
        </p:nvSpPr>
        <p:spPr>
          <a:xfrm>
            <a:off x="968066" y="5293052"/>
            <a:ext cx="306365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ДРАЙВЕР 6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D4755BE-6C71-CA53-6F83-78A92CE53555}"/>
              </a:ext>
            </a:extLst>
          </p:cNvPr>
          <p:cNvSpPr/>
          <p:nvPr/>
        </p:nvSpPr>
        <p:spPr>
          <a:xfrm>
            <a:off x="4128074" y="5387371"/>
            <a:ext cx="6539632" cy="638254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CF90D6-A4C3-4DA1-D4A8-0C229157BB84}"/>
              </a:ext>
            </a:extLst>
          </p:cNvPr>
          <p:cNvSpPr txBox="1"/>
          <p:nvPr/>
        </p:nvSpPr>
        <p:spPr>
          <a:xfrm>
            <a:off x="4566401" y="5516190"/>
            <a:ext cx="5662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RF Dewi Expanded Black" panose="00000A05000000000000" pitchFamily="2" charset="-52"/>
              </a:rPr>
              <a:t>Рост локального контента</a:t>
            </a:r>
          </a:p>
        </p:txBody>
      </p:sp>
    </p:spTree>
    <p:extLst>
      <p:ext uri="{BB962C8B-B14F-4D97-AF65-F5344CB8AC3E}">
        <p14:creationId xmlns:p14="http://schemas.microsoft.com/office/powerpoint/2010/main" val="1998738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2E5F5-93FA-151B-EC37-8A44CFB59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418537-A0CB-EFAD-3CC5-F0AF926CF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66" y="5843927"/>
            <a:ext cx="1148487" cy="684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5C56A4-F760-B52C-67C8-F3504942F01D}"/>
              </a:ext>
            </a:extLst>
          </p:cNvPr>
          <p:cNvSpPr txBox="1"/>
          <p:nvPr/>
        </p:nvSpPr>
        <p:spPr>
          <a:xfrm>
            <a:off x="1006686" y="250980"/>
            <a:ext cx="102956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КТО НАШИ  </a:t>
            </a:r>
            <a:r>
              <a:rPr lang="ru-RU" sz="6000" dirty="0">
                <a:solidFill>
                  <a:srgbClr val="EC611F"/>
                </a:solidFill>
                <a:latin typeface="Rhythmic RUS" pitchFamily="2" charset="0"/>
              </a:rPr>
              <a:t>КОНКУРЕНТЫ?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ACA2A3-EC13-7369-B8C1-858AD8FC4C85}"/>
              </a:ext>
            </a:extLst>
          </p:cNvPr>
          <p:cNvSpPr txBox="1"/>
          <p:nvPr/>
        </p:nvSpPr>
        <p:spPr>
          <a:xfrm>
            <a:off x="7969821" y="2167135"/>
            <a:ext cx="35098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Apple Music </a:t>
            </a:r>
            <a:r>
              <a:rPr lang="ru-RU" sz="3600" dirty="0" err="1">
                <a:solidFill>
                  <a:srgbClr val="F5E9D8"/>
                </a:solidFill>
                <a:latin typeface="RF Dewi Expanded Black" panose="00000A05000000000000" pitchFamily="2" charset="-52"/>
              </a:rPr>
              <a:t>SharePlay</a:t>
            </a:r>
            <a:endParaRPr lang="ru-RU" sz="3600" dirty="0">
              <a:solidFill>
                <a:srgbClr val="F5E9D8"/>
              </a:solidFill>
              <a:latin typeface="RF Dewi Expanded Black" panose="00000A05000000000000" pitchFamily="2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C7BDAE-C71B-94CD-0A36-D42CC36AE9AE}"/>
              </a:ext>
            </a:extLst>
          </p:cNvPr>
          <p:cNvSpPr txBox="1"/>
          <p:nvPr/>
        </p:nvSpPr>
        <p:spPr>
          <a:xfrm>
            <a:off x="4336302" y="4289190"/>
            <a:ext cx="36364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JQBX (ранее </a:t>
            </a:r>
            <a:r>
              <a:rPr lang="ru-RU" sz="3600" dirty="0" err="1">
                <a:solidFill>
                  <a:srgbClr val="F5E9D8"/>
                </a:solidFill>
                <a:latin typeface="RF Dewi Expanded Black" panose="00000A05000000000000" pitchFamily="2" charset="-52"/>
              </a:rPr>
              <a:t>Soundrop</a:t>
            </a:r>
            <a:r>
              <a:rPr lang="ru-RU" sz="36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2413C3-DBEF-0AA5-6C56-168BD2E1F481}"/>
              </a:ext>
            </a:extLst>
          </p:cNvPr>
          <p:cNvSpPr txBox="1"/>
          <p:nvPr/>
        </p:nvSpPr>
        <p:spPr>
          <a:xfrm>
            <a:off x="594721" y="2167135"/>
            <a:ext cx="41761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err="1">
                <a:solidFill>
                  <a:srgbClr val="F5E9D8"/>
                </a:solidFill>
                <a:latin typeface="RF Dewi Expanded Black" panose="00000A05000000000000" pitchFamily="2" charset="-52"/>
              </a:rPr>
              <a:t>Spotify</a:t>
            </a:r>
            <a:r>
              <a:rPr lang="ru-RU" sz="36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 Group </a:t>
            </a:r>
            <a:r>
              <a:rPr lang="ru-RU" sz="3600" dirty="0" err="1">
                <a:solidFill>
                  <a:srgbClr val="F5E9D8"/>
                </a:solidFill>
                <a:latin typeface="RF Dewi Expanded Black" panose="00000A05000000000000" pitchFamily="2" charset="-52"/>
              </a:rPr>
              <a:t>Session</a:t>
            </a:r>
            <a:endParaRPr lang="ru-RU" sz="3600" dirty="0">
              <a:solidFill>
                <a:srgbClr val="F5E9D8"/>
              </a:solidFill>
              <a:latin typeface="RF Dewi Expanded Black" panose="00000A05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576951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494929-0E94-87F6-9564-7268A4536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0EF9FA-A6FF-FC8F-CD45-67DC96AFE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66" y="5843927"/>
            <a:ext cx="1148487" cy="684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CCDAF0-5F08-F11A-7D1C-E37590315532}"/>
              </a:ext>
            </a:extLst>
          </p:cNvPr>
          <p:cNvSpPr txBox="1"/>
          <p:nvPr/>
        </p:nvSpPr>
        <p:spPr>
          <a:xfrm>
            <a:off x="2746592" y="202193"/>
            <a:ext cx="69972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КАКИЕ  </a:t>
            </a:r>
            <a:r>
              <a:rPr lang="ru-RU" sz="6000" dirty="0">
                <a:solidFill>
                  <a:srgbClr val="EC611F"/>
                </a:solidFill>
                <a:latin typeface="Rhythmic RUS" pitchFamily="2" charset="0"/>
              </a:rPr>
              <a:t>ВЫВОДЫ?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AD2A2EC-89AA-F231-CB10-F6B76824B893}"/>
              </a:ext>
            </a:extLst>
          </p:cNvPr>
          <p:cNvSpPr/>
          <p:nvPr/>
        </p:nvSpPr>
        <p:spPr>
          <a:xfrm>
            <a:off x="3889633" y="2202215"/>
            <a:ext cx="4412737" cy="3576870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89CE82-420A-35E6-A85C-E476B4E8C9DA}"/>
              </a:ext>
            </a:extLst>
          </p:cNvPr>
          <p:cNvSpPr txBox="1"/>
          <p:nvPr/>
        </p:nvSpPr>
        <p:spPr>
          <a:xfrm>
            <a:off x="5089955" y="1417385"/>
            <a:ext cx="201208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ВЫВОД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04C5E3-2922-0E29-207A-190C87504989}"/>
              </a:ext>
            </a:extLst>
          </p:cNvPr>
          <p:cNvSpPr txBox="1"/>
          <p:nvPr/>
        </p:nvSpPr>
        <p:spPr>
          <a:xfrm>
            <a:off x="4007949" y="2282490"/>
            <a:ext cx="4176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Raleway" pitchFamily="2" charset="-52"/>
              </a:rPr>
              <a:t>Несмотря на наличие решений от гигантов, массовая аудитория до сих пор слушает музыку в компаниях по старинке — с телефона одного человека. Продукт вроде </a:t>
            </a:r>
            <a:r>
              <a:rPr lang="ru-RU" dirty="0" err="1">
                <a:latin typeface="Raleway" pitchFamily="2" charset="-52"/>
              </a:rPr>
              <a:t>Jointune</a:t>
            </a:r>
            <a:r>
              <a:rPr lang="ru-RU" dirty="0">
                <a:latin typeface="Raleway" pitchFamily="2" charset="-52"/>
              </a:rPr>
              <a:t>, который не требует от всех участников премиум-подписок, работает через простой QR-код и дает каждому гостю чувство влияния на происходящее, способен стать стандартом для вечеринок.</a:t>
            </a:r>
          </a:p>
        </p:txBody>
      </p:sp>
    </p:spTree>
    <p:extLst>
      <p:ext uri="{BB962C8B-B14F-4D97-AF65-F5344CB8AC3E}">
        <p14:creationId xmlns:p14="http://schemas.microsoft.com/office/powerpoint/2010/main" val="2551585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7A29C-B646-F1DD-4983-49F6E6B75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EE5100-7136-1676-8069-1EC112D52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66" y="5843927"/>
            <a:ext cx="1148487" cy="684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50481E-C4C3-8DDD-A7B7-F366A1781159}"/>
              </a:ext>
            </a:extLst>
          </p:cNvPr>
          <p:cNvSpPr txBox="1"/>
          <p:nvPr/>
        </p:nvSpPr>
        <p:spPr>
          <a:xfrm>
            <a:off x="800749" y="250980"/>
            <a:ext cx="106768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000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ПОЧЕМУ ОНО  </a:t>
            </a:r>
            <a:r>
              <a:rPr lang="ru-RU" sz="6000" dirty="0">
                <a:solidFill>
                  <a:srgbClr val="EC611F"/>
                </a:solidFill>
                <a:latin typeface="Rhythmic RUS" pitchFamily="2" charset="0"/>
              </a:rPr>
              <a:t>АКТУАЛЬНО?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05FD4BCD-9002-DC5F-E275-DBCF06B65DBA}"/>
              </a:ext>
            </a:extLst>
          </p:cNvPr>
          <p:cNvSpPr/>
          <p:nvPr/>
        </p:nvSpPr>
        <p:spPr>
          <a:xfrm>
            <a:off x="1392256" y="2246107"/>
            <a:ext cx="4412737" cy="3576870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C27BD6-721E-8918-6C14-90C0F9AEA84E}"/>
              </a:ext>
            </a:extLst>
          </p:cNvPr>
          <p:cNvSpPr txBox="1"/>
          <p:nvPr/>
        </p:nvSpPr>
        <p:spPr>
          <a:xfrm>
            <a:off x="2099655" y="1461276"/>
            <a:ext cx="299793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проблемы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3F5F6F-678B-9CD1-B215-F2D6A6C264DC}"/>
              </a:ext>
            </a:extLst>
          </p:cNvPr>
          <p:cNvSpPr txBox="1"/>
          <p:nvPr/>
        </p:nvSpPr>
        <p:spPr>
          <a:xfrm>
            <a:off x="1510573" y="2603381"/>
            <a:ext cx="41761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Raleway" pitchFamily="2" charset="-52"/>
              </a:rPr>
              <a:t>Социальное прослушивание музыки — огромный неосвоенный пласт. Миллионы людей собираются вместе: вечеринки, посиделки у костра, корпоративы, домашние встречи. Все они сталкиваются с проблемой выбора музыки: какой трек включить сейчас, какой следующий. У всех разные вкусы и интересы.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52C80BEC-9CA0-3228-47C8-D410F9BC4E11}"/>
              </a:ext>
            </a:extLst>
          </p:cNvPr>
          <p:cNvSpPr/>
          <p:nvPr/>
        </p:nvSpPr>
        <p:spPr>
          <a:xfrm>
            <a:off x="6387007" y="2221460"/>
            <a:ext cx="4412737" cy="3576870"/>
          </a:xfrm>
          <a:prstGeom prst="roundRect">
            <a:avLst/>
          </a:prstGeom>
          <a:solidFill>
            <a:srgbClr val="F5E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0BF17C-977F-B2C8-A40A-0E60525635D6}"/>
              </a:ext>
            </a:extLst>
          </p:cNvPr>
          <p:cNvSpPr txBox="1"/>
          <p:nvPr/>
        </p:nvSpPr>
        <p:spPr>
          <a:xfrm>
            <a:off x="7248294" y="1396493"/>
            <a:ext cx="269016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solidFill>
                  <a:srgbClr val="EC611F"/>
                </a:solidFill>
                <a:latin typeface="Rhythmic RUS" pitchFamily="2" charset="0"/>
              </a:rPr>
              <a:t>РЕШЕНИЕ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432CAE-16AC-F8C7-DD9E-7B0E8961906E}"/>
              </a:ext>
            </a:extLst>
          </p:cNvPr>
          <p:cNvSpPr txBox="1"/>
          <p:nvPr/>
        </p:nvSpPr>
        <p:spPr>
          <a:xfrm>
            <a:off x="6505327" y="2440234"/>
            <a:ext cx="41761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Raleway" pitchFamily="2" charset="-52"/>
              </a:rPr>
              <a:t>Веб-приложение или мобильный сервис, который создает общую виртуальную «комнату» для прослушивания. Один пользователь создает комнату и подключает колонку (через Bluetooth или AUX к своему устройству), а остальные заходят в комнату по QR-коду или ссылке со своих смартфонов. Каждый может добавлять треки в общую очередь голосованием.</a:t>
            </a:r>
          </a:p>
        </p:txBody>
      </p:sp>
    </p:spTree>
    <p:extLst>
      <p:ext uri="{BB962C8B-B14F-4D97-AF65-F5344CB8AC3E}">
        <p14:creationId xmlns:p14="http://schemas.microsoft.com/office/powerpoint/2010/main" val="758313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3C5DC0-015E-FC4E-0B41-0E908AF84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656DF3-E853-010C-5EC2-98CCC535E0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Своя музыка для всех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2216AA4-09E4-A073-4856-4900F3EF3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280" y="-1125076"/>
            <a:ext cx="8859439" cy="88594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1B5EF9-E124-5D23-CF83-B668A1AEC1C8}"/>
              </a:ext>
            </a:extLst>
          </p:cNvPr>
          <p:cNvSpPr txBox="1"/>
          <p:nvPr/>
        </p:nvSpPr>
        <p:spPr>
          <a:xfrm>
            <a:off x="3618476" y="5473861"/>
            <a:ext cx="4955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i="1" dirty="0">
                <a:solidFill>
                  <a:srgbClr val="F5E9D8"/>
                </a:solidFill>
                <a:latin typeface="RF Dewi Expanded Black" panose="00000A05000000000000" pitchFamily="2" charset="-52"/>
              </a:rPr>
              <a:t>СВОЯ МУЗЫКА ДЛЯ  </a:t>
            </a:r>
            <a:r>
              <a:rPr lang="ru-RU" sz="3000" dirty="0">
                <a:solidFill>
                  <a:srgbClr val="EC611F"/>
                </a:solidFill>
                <a:latin typeface="Rhythmic RUS" pitchFamily="2" charset="0"/>
              </a:rPr>
              <a:t>ВСЕХ</a:t>
            </a:r>
          </a:p>
        </p:txBody>
      </p:sp>
    </p:spTree>
    <p:extLst>
      <p:ext uri="{BB962C8B-B14F-4D97-AF65-F5344CB8AC3E}">
        <p14:creationId xmlns:p14="http://schemas.microsoft.com/office/powerpoint/2010/main" val="34740430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814</Words>
  <Application>Microsoft Office PowerPoint</Application>
  <PresentationFormat>Широкоэкранный</PresentationFormat>
  <Paragraphs>104</Paragraphs>
  <Slides>15</Slides>
  <Notes>13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Raleway</vt:lpstr>
      <vt:lpstr>RF Dewi Expanded Black</vt:lpstr>
      <vt:lpstr>Rhythmic RUS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Антон Цейсновский</dc:creator>
  <cp:lastModifiedBy>Антон Цейсновский</cp:lastModifiedBy>
  <cp:revision>16</cp:revision>
  <dcterms:created xsi:type="dcterms:W3CDTF">2026-03-10T10:39:50Z</dcterms:created>
  <dcterms:modified xsi:type="dcterms:W3CDTF">2026-03-29T14:02:29Z</dcterms:modified>
</cp:coreProperties>
</file>